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9" r:id="rId2"/>
    <p:sldId id="264" r:id="rId3"/>
    <p:sldId id="265" r:id="rId4"/>
    <p:sldId id="263" r:id="rId5"/>
    <p:sldId id="266" r:id="rId6"/>
    <p:sldId id="260" r:id="rId7"/>
    <p:sldId id="269" r:id="rId8"/>
    <p:sldId id="261" r:id="rId9"/>
    <p:sldId id="268" r:id="rId10"/>
    <p:sldId id="257" r:id="rId11"/>
    <p:sldId id="267" r:id="rId12"/>
    <p:sldId id="25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EEBFDD-A7E6-4645-AE23-C6756A616B2C}" v="835" dt="2026-06-10T09:14:41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7153A-8337-430B-9442-B385F22D39E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505F7-B0EF-4C55-8927-F46AD317A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72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 about what part of the scope is implemented.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505F7-B0EF-4C55-8927-F46AD317A2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87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505F7-B0EF-4C55-8927-F46AD317A2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81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505F7-B0EF-4C55-8927-F46AD317A25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90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Login into test account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Showcase Account section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Showcase Incident History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Use AI chat throughout next steps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Call 911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Create a new incident report with photos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Showcase incident report in history again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505F7-B0EF-4C55-8927-F46AD317A25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22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04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1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5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8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40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92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0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41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41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1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5485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66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57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04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889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5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76DFAD4-3DE4-4C86-8F10-1BCBD4036F8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BB418A6-C2E1-4F90-9FC6-022331826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45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3AB99-00F1-F640-0646-FADE25464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857" y="965196"/>
            <a:ext cx="4583022" cy="263314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err="1">
                <a:effectLst/>
              </a:rPr>
              <a:t>AccidentNow</a:t>
            </a:r>
            <a:r>
              <a:rPr lang="en-US" sz="4600">
                <a:effectLst/>
              </a:rPr>
              <a:t> Witness Manager</a:t>
            </a:r>
            <a:br>
              <a:rPr lang="en-US" sz="4600">
                <a:effectLst/>
              </a:rPr>
            </a:br>
            <a:r>
              <a:rPr lang="en-US" sz="4600">
                <a:effectLst/>
              </a:rPr>
              <a:t>(ANWM)</a:t>
            </a:r>
            <a:endParaRPr lang="en-US" sz="4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246F76-1698-C244-DB9E-64F577483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2857" y="3598339"/>
            <a:ext cx="4559022" cy="1675335"/>
          </a:xfrm>
        </p:spPr>
        <p:txBody>
          <a:bodyPr>
            <a:normAutofit/>
          </a:bodyPr>
          <a:lstStyle/>
          <a:p>
            <a:r>
              <a:rPr lang="en-US"/>
              <a:t>Project 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271365-72E2-4A49-BDFD-6A6B3AD71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0614" y="965196"/>
            <a:ext cx="5042779" cy="4781641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870DEB-79F1-8557-3642-E0DB1A648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9" r="3" b="2479"/>
          <a:stretch>
            <a:fillRect/>
          </a:stretch>
        </p:blipFill>
        <p:spPr>
          <a:xfrm>
            <a:off x="1380489" y="1438360"/>
            <a:ext cx="4140271" cy="38353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18B8C8-3F07-56BA-C57D-C911D9FA148B}"/>
              </a:ext>
            </a:extLst>
          </p:cNvPr>
          <p:cNvSpPr txBox="1"/>
          <p:nvPr/>
        </p:nvSpPr>
        <p:spPr>
          <a:xfrm>
            <a:off x="196850" y="177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C73E2-EF02-162B-D289-2DAC275B2C2E}"/>
              </a:ext>
            </a:extLst>
          </p:cNvPr>
          <p:cNvSpPr txBox="1"/>
          <p:nvPr/>
        </p:nvSpPr>
        <p:spPr>
          <a:xfrm>
            <a:off x="950613" y="5860026"/>
            <a:ext cx="504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1. Application Logo</a:t>
            </a:r>
          </a:p>
        </p:txBody>
      </p:sp>
    </p:spTree>
    <p:extLst>
      <p:ext uri="{BB962C8B-B14F-4D97-AF65-F5344CB8AC3E}">
        <p14:creationId xmlns:p14="http://schemas.microsoft.com/office/powerpoint/2010/main" val="3287780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25340-EC24-4E7F-EAA6-F593A17A9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US" sz="3600"/>
              <a:t>Project Scope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5F671-637C-5312-4C7E-5ED2CA8DE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400"/>
              <a:t>User able to login, logout, and create account</a:t>
            </a:r>
          </a:p>
          <a:p>
            <a:r>
              <a:rPr lang="en-US" sz="2400"/>
              <a:t>User able to change their profile information</a:t>
            </a:r>
          </a:p>
          <a:p>
            <a:r>
              <a:rPr lang="en-US" sz="2400"/>
              <a:t>User able to take photos from their camera</a:t>
            </a:r>
          </a:p>
          <a:p>
            <a:r>
              <a:rPr lang="en-US" sz="2400"/>
              <a:t>User able to upload photos</a:t>
            </a:r>
          </a:p>
          <a:p>
            <a:r>
              <a:rPr lang="en-US" sz="2400"/>
              <a:t>User able to save, change, and view past accident reports</a:t>
            </a:r>
          </a:p>
          <a:p>
            <a:r>
              <a:rPr lang="en-US" sz="2400"/>
              <a:t>A step-by-step guide accident flow</a:t>
            </a:r>
          </a:p>
          <a:p>
            <a:r>
              <a:rPr lang="en-US" sz="2400"/>
              <a:t>An artificial intelligence assistance</a:t>
            </a:r>
          </a:p>
          <a:p>
            <a:r>
              <a:rPr lang="en-US" sz="2400"/>
              <a:t>One-tap emergency 911 call</a:t>
            </a:r>
          </a:p>
          <a:p>
            <a:r>
              <a:rPr lang="en-US" sz="2400"/>
              <a:t>SHA-256 information encryption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78D80-B221-92D8-AC96-5A91B38FFD0A}"/>
              </a:ext>
            </a:extLst>
          </p:cNvPr>
          <p:cNvSpPr txBox="1"/>
          <p:nvPr/>
        </p:nvSpPr>
        <p:spPr>
          <a:xfrm>
            <a:off x="205317" y="177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64212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53BFF-3BBB-C88B-374B-72763DC1E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US" sz="3600"/>
              <a:t>Technologies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CFF39-5E86-0059-BAE3-EF19595F6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ctr">
            <a:normAutofit/>
          </a:bodyPr>
          <a:lstStyle/>
          <a:p>
            <a:r>
              <a:rPr lang="en-US" sz="2400"/>
              <a:t>Android studio</a:t>
            </a:r>
          </a:p>
          <a:p>
            <a:r>
              <a:rPr lang="en-US" sz="2400"/>
              <a:t>Firebase Cloud Firestone</a:t>
            </a:r>
          </a:p>
          <a:p>
            <a:r>
              <a:rPr lang="en-US" sz="2400"/>
              <a:t>Firebase Authentication</a:t>
            </a:r>
          </a:p>
          <a:p>
            <a:r>
              <a:rPr lang="en-US" sz="2400"/>
              <a:t>Gemini 3.1 Flash Lite</a:t>
            </a:r>
          </a:p>
          <a:p>
            <a:r>
              <a:rPr lang="en-US" sz="2400"/>
              <a:t>Kotlin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4375D-A565-3B3D-BFAD-9B22927F0C2D}"/>
              </a:ext>
            </a:extLst>
          </p:cNvPr>
          <p:cNvSpPr txBox="1"/>
          <p:nvPr/>
        </p:nvSpPr>
        <p:spPr>
          <a:xfrm>
            <a:off x="196850" y="177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02449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FF974-A07B-AD86-5EE5-AD8D09E8E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B477-2A98-13D4-8339-5B377F856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ANWM?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A1D6E-1C40-092A-4E9D-48711E373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indent="-305435"/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"</a:t>
            </a:r>
            <a:r>
              <a:rPr lang="en-US" sz="2400" err="1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AccidentNow</a:t>
            </a:r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 Witness Manager"</a:t>
            </a:r>
          </a:p>
          <a:p>
            <a:pPr marL="719455" lvl="1" indent="-269875">
              <a:buFont typeface="Courier New" charset="2"/>
              <a:buChar char="o"/>
            </a:pPr>
            <a:r>
              <a:rPr lang="en-US" sz="20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A secure, immutable digital evidence repository designed for accident scene preservation.</a:t>
            </a:r>
          </a:p>
          <a:p>
            <a:pPr indent="-305435"/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Android Application</a:t>
            </a:r>
          </a:p>
          <a:p>
            <a:pPr marL="719455" lvl="1" indent="-269875">
              <a:buFont typeface="Courier New" charset="2"/>
              <a:buChar char="o"/>
            </a:pPr>
            <a:r>
              <a:rPr lang="en-US" sz="20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Empowers users on-scene to immediately capture, log, and protect critical incident data.</a:t>
            </a:r>
          </a:p>
          <a:p>
            <a:pPr indent="-305435"/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Firebase Backed</a:t>
            </a:r>
          </a:p>
          <a:p>
            <a:pPr marL="719455" lvl="1" indent="-269875">
              <a:buFont typeface="Courier New" charset="2"/>
              <a:buChar char="o"/>
            </a:pPr>
            <a:r>
              <a:rPr lang="en-US" sz="20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Provides real-time cloud data synchronization, secure user authentication, and reliable storage.</a:t>
            </a:r>
          </a:p>
          <a:p>
            <a:pPr indent="-305435"/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AI Assisted</a:t>
            </a:r>
          </a:p>
          <a:p>
            <a:pPr marL="719455" lvl="1" indent="-269875">
              <a:buFont typeface="Courier New" charset="2"/>
              <a:buChar char="o"/>
            </a:pPr>
            <a:r>
              <a:rPr lang="en-US" sz="20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AI integration to automate data entry, analyze scene context, or streamline reporting.</a:t>
            </a:r>
          </a:p>
          <a:p>
            <a:pPr indent="-305435"/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indent="-305435"/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C9D31-89C7-BCE8-1954-F021A365A187}"/>
              </a:ext>
            </a:extLst>
          </p:cNvPr>
          <p:cNvSpPr txBox="1"/>
          <p:nvPr/>
        </p:nvSpPr>
        <p:spPr>
          <a:xfrm>
            <a:off x="196850" y="177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48352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0B7A-0511-0761-52EC-4616D1F21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interface preview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CD14D4-E55C-CF2B-6712-81C2620C5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8012" y="1873881"/>
            <a:ext cx="1896449" cy="40592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B6C583-DEAC-0155-4103-5BD600AA9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694" y="1873880"/>
            <a:ext cx="1889811" cy="40592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3601E1-BEEF-9742-CBCE-8527F5C78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95" y="1873880"/>
            <a:ext cx="1898158" cy="40592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1771F1-653F-7F2B-0C5B-B799937E5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4738" y="1873881"/>
            <a:ext cx="1891745" cy="40592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1A09DF-D400-C45C-6B25-7531A76055A1}"/>
              </a:ext>
            </a:extLst>
          </p:cNvPr>
          <p:cNvSpPr txBox="1"/>
          <p:nvPr/>
        </p:nvSpPr>
        <p:spPr>
          <a:xfrm>
            <a:off x="735522" y="5879068"/>
            <a:ext cx="2254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2. Login Page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976529-C90A-CBB8-CDBC-48A1BA11100C}"/>
              </a:ext>
            </a:extLst>
          </p:cNvPr>
          <p:cNvSpPr txBox="1"/>
          <p:nvPr/>
        </p:nvSpPr>
        <p:spPr>
          <a:xfrm>
            <a:off x="3628884" y="5915628"/>
            <a:ext cx="2254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3. Home 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1E00B3-6CE2-82B3-7624-1187A08CEA44}"/>
              </a:ext>
            </a:extLst>
          </p:cNvPr>
          <p:cNvSpPr txBox="1"/>
          <p:nvPr/>
        </p:nvSpPr>
        <p:spPr>
          <a:xfrm>
            <a:off x="9285149" y="5915628"/>
            <a:ext cx="2510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5. History Page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EFA719-8868-B64F-135C-4BDC96036151}"/>
              </a:ext>
            </a:extLst>
          </p:cNvPr>
          <p:cNvSpPr txBox="1"/>
          <p:nvPr/>
        </p:nvSpPr>
        <p:spPr>
          <a:xfrm>
            <a:off x="6522246" y="5933117"/>
            <a:ext cx="2254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4. AI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A54A9F-3963-0BF5-DB78-EAF9B5FD654A}"/>
              </a:ext>
            </a:extLst>
          </p:cNvPr>
          <p:cNvSpPr txBox="1"/>
          <p:nvPr/>
        </p:nvSpPr>
        <p:spPr>
          <a:xfrm>
            <a:off x="196850" y="177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15362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89B33-7C16-F13B-3746-EEDBFFBBA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Encryption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F429A-2594-E851-7C65-27B8F104B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305435"/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Every incident record is cryptographically hashed using SHA-256 before being written to the database</a:t>
            </a:r>
          </a:p>
          <a:p>
            <a:pPr indent="-305435"/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SHA-256 same cryptographic primitive that secures blockchain</a:t>
            </a:r>
          </a:p>
          <a:p>
            <a:pPr indent="-305435"/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When record is saved, all incident fields are compiled into a single string and processed through a SHA-256 hash function </a:t>
            </a:r>
          </a:p>
          <a:p>
            <a:pPr indent="-305435"/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Hash is stored alongside the record in </a:t>
            </a:r>
            <a:r>
              <a:rPr lang="en-US" sz="2400" err="1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Firestore</a:t>
            </a:r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 </a:t>
            </a:r>
          </a:p>
          <a:p>
            <a:pPr indent="-305435"/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If anyone modifies even one character of the record after saving it, re-hashing produces a completely different result which would show tampering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0BF82-2E00-860E-6CEA-01348F4E9906}"/>
              </a:ext>
            </a:extLst>
          </p:cNvPr>
          <p:cNvSpPr txBox="1"/>
          <p:nvPr/>
        </p:nvSpPr>
        <p:spPr>
          <a:xfrm>
            <a:off x="196850" y="177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10949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DF035-896E-92CC-5D2E-3C1C99B6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F6B71-20BC-1592-37B2-5E6013FF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 &amp; Storage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F6304-C76E-8F20-0E20-28D0A7AB7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indent="-305435"/>
            <a:r>
              <a:rPr lang="en-US" sz="26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Used a Firebase Cloud Firestore – a NoSQL document database, instead of a traditional relational database</a:t>
            </a:r>
          </a:p>
          <a:p>
            <a:pPr indent="-305435"/>
            <a:r>
              <a:rPr lang="en-US" sz="26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Incidents don't have complex relationships with other tables – each report is tied to one user, which is what Firestore is designed for </a:t>
            </a:r>
          </a:p>
          <a:p>
            <a:pPr indent="-305435"/>
            <a:r>
              <a:rPr lang="en-US" sz="26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Data is structured in levels – each user has their own space in the database and their incident records live in that space: users         {uid}        incidents          {incidentId}</a:t>
            </a:r>
          </a:p>
          <a:p>
            <a:pPr indent="-305435"/>
            <a:r>
              <a:rPr lang="en-US" sz="26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Photos are compressed and stored as a Base64 encoded strings directly into the incident document – no separate storage service </a:t>
            </a:r>
          </a:p>
          <a:p>
            <a:pPr indent="-305435"/>
            <a:endParaRPr lang="en-US" sz="260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6B292E0-57C3-4AEE-69BD-955105CC3190}"/>
              </a:ext>
            </a:extLst>
          </p:cNvPr>
          <p:cNvSpPr/>
          <p:nvPr/>
        </p:nvSpPr>
        <p:spPr>
          <a:xfrm>
            <a:off x="2202329" y="4613836"/>
            <a:ext cx="403411" cy="1922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2BA1482-30FC-7BF2-1B85-B99C3BC91782}"/>
              </a:ext>
            </a:extLst>
          </p:cNvPr>
          <p:cNvSpPr/>
          <p:nvPr/>
        </p:nvSpPr>
        <p:spPr>
          <a:xfrm>
            <a:off x="3717364" y="4613836"/>
            <a:ext cx="403411" cy="1922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F75D9D8-9AE6-1E6E-0CCF-97E6DA066D01}"/>
              </a:ext>
            </a:extLst>
          </p:cNvPr>
          <p:cNvSpPr/>
          <p:nvPr/>
        </p:nvSpPr>
        <p:spPr>
          <a:xfrm>
            <a:off x="5886823" y="4613835"/>
            <a:ext cx="403411" cy="1922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1FE625-707A-3769-E60A-3673F9C612FC}"/>
              </a:ext>
            </a:extLst>
          </p:cNvPr>
          <p:cNvSpPr txBox="1"/>
          <p:nvPr/>
        </p:nvSpPr>
        <p:spPr>
          <a:xfrm>
            <a:off x="196850" y="177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98077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35F24-67BF-49BF-D9D5-7E709A894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E15D9-7BBF-A63D-4FF5-0B833E742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572676"/>
            <a:ext cx="6901737" cy="4675724"/>
          </a:xfrm>
        </p:spPr>
        <p:txBody>
          <a:bodyPr>
            <a:normAutofit fontScale="92500" lnSpcReduction="20000"/>
          </a:bodyPr>
          <a:lstStyle/>
          <a:p>
            <a:pPr indent="-305435"/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Why AI Assisted?</a:t>
            </a:r>
          </a:p>
          <a:p>
            <a:pPr marL="719455" lvl="1" indent="-269875">
              <a:buFont typeface="Courier New" charset="2"/>
              <a:buChar char="o"/>
            </a:pPr>
            <a:r>
              <a:rPr lang="en-US" sz="21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Convert chaotic, unstructured verbal or written witness accounts into structured database fields.</a:t>
            </a:r>
          </a:p>
          <a:p>
            <a:pPr indent="-305435"/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Gemini 3.1 Flash-Lite</a:t>
            </a:r>
          </a:p>
          <a:p>
            <a:pPr marL="719455" lvl="1" indent="-269875">
              <a:buFont typeface="Courier New" charset="2"/>
              <a:buChar char="o"/>
            </a:pPr>
            <a:r>
              <a:rPr lang="en-US" sz="21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Selected for its ultra-low latency on mobile networks, low API overhead, and exceptional parsing speed.</a:t>
            </a:r>
          </a:p>
          <a:p>
            <a:pPr indent="-305435"/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AI Functionality</a:t>
            </a:r>
          </a:p>
          <a:p>
            <a:pPr marL="719455" lvl="1" indent="-269875">
              <a:buFont typeface="Courier New" charset="2"/>
              <a:buChar char="o"/>
            </a:pPr>
            <a:r>
              <a:rPr lang="en-US" sz="21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Handles automated semantic categorization, key entity extraction, and dynamic contextual aid.</a:t>
            </a:r>
          </a:p>
          <a:p>
            <a:pPr indent="-305435"/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AI Limitations</a:t>
            </a:r>
          </a:p>
          <a:p>
            <a:pPr marL="719455" lvl="1" indent="-269875">
              <a:buFont typeface="Courier New" charset="2"/>
              <a:buChar char="o"/>
            </a:pPr>
            <a:r>
              <a:rPr lang="en-US" sz="21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Strictly mitigated using </a:t>
            </a:r>
            <a:r>
              <a:rPr lang="en-US" sz="21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Calisto MT"/>
                <a:ea typeface="Roboto"/>
                <a:cs typeface="Roboto"/>
              </a:rPr>
              <a:t>predetermined JSON</a:t>
            </a:r>
            <a:r>
              <a:rPr lang="en-US" sz="21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 schemas and programmatic validation guardrails to eliminate hallucinations, keep AI focused, and limit unrelated responses. </a:t>
            </a:r>
          </a:p>
          <a:p>
            <a:pPr marL="719455" lvl="1" indent="-269875">
              <a:buFont typeface="Courier New" charset="2"/>
              <a:buChar char="o"/>
            </a:pP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FC9BCD6F-AC75-DE68-912B-BEDA2C0D7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172" y="281258"/>
            <a:ext cx="2998369" cy="6300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59FA11-9A04-4056-95F1-D15B8CCE8721}"/>
              </a:ext>
            </a:extLst>
          </p:cNvPr>
          <p:cNvSpPr txBox="1"/>
          <p:nvPr/>
        </p:nvSpPr>
        <p:spPr>
          <a:xfrm>
            <a:off x="8684172" y="6488668"/>
            <a:ext cx="314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6. Chatting with 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198E6-1D73-398A-7E4D-F1D4A699493D}"/>
              </a:ext>
            </a:extLst>
          </p:cNvPr>
          <p:cNvSpPr txBox="1"/>
          <p:nvPr/>
        </p:nvSpPr>
        <p:spPr>
          <a:xfrm>
            <a:off x="196850" y="177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27385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473A-FCD6-5D42-332E-4D38B6D7B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Future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0C0EB-E949-1852-98E1-BA87CD3B3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305435"/>
            <a:r>
              <a:rPr lang="en-US" sz="2800"/>
              <a:t>More intuitive user interfaces</a:t>
            </a:r>
            <a:endParaRPr lang="en-US"/>
          </a:p>
          <a:p>
            <a:pPr indent="-305435"/>
            <a:r>
              <a:rPr lang="en-US" sz="2800"/>
              <a:t>Export to PDF file or email option</a:t>
            </a:r>
            <a:endParaRPr lang="en-US" sz="280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indent="-305435"/>
            <a:r>
              <a:rPr lang="en-US" sz="2800"/>
              <a:t>Application preference modifications</a:t>
            </a:r>
            <a:endParaRPr lang="en-US" sz="280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indent="-305435"/>
            <a:r>
              <a:rPr lang="en-US" sz="2800"/>
              <a:t>Customer support</a:t>
            </a:r>
            <a:endParaRPr lang="en-US" sz="280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indent="-305435"/>
            <a:r>
              <a:rPr lang="en-US" sz="2800"/>
              <a:t>App privacy and permission modifications</a:t>
            </a:r>
            <a:endParaRPr lang="en-US" sz="280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indent="-305435"/>
            <a:r>
              <a:rPr lang="en-US" sz="2800"/>
              <a:t>Deploy to the </a:t>
            </a:r>
            <a:r>
              <a:rPr lang="en-US" sz="2800" err="1"/>
              <a:t>Playstore</a:t>
            </a: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75C7D-58C1-C936-BCCC-4E976F8918E9}"/>
              </a:ext>
            </a:extLst>
          </p:cNvPr>
          <p:cNvSpPr txBox="1"/>
          <p:nvPr/>
        </p:nvSpPr>
        <p:spPr>
          <a:xfrm>
            <a:off x="196850" y="177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59096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82F86-D2BE-339D-9321-AB9F4B6F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CB7D5-AA8C-020B-2197-7D39D77F5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305435"/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Firebase Storage requiring a paid plan </a:t>
            </a:r>
            <a:endParaRPr lang="en-US" sz="2400"/>
          </a:p>
          <a:p>
            <a:pPr indent="-305435"/>
            <a:r>
              <a:rPr lang="en-US" sz="2400"/>
              <a:t>Learning new technologies such as Kotlin, Android Studio, etc.</a:t>
            </a:r>
            <a:endParaRPr lang="en-US" sz="240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indent="-305435"/>
            <a:r>
              <a:rPr lang="en-US" sz="24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Emulator limitations – offline functionality </a:t>
            </a:r>
            <a:endParaRPr lang="en-US" sz="2400"/>
          </a:p>
          <a:p>
            <a:pPr indent="-305435"/>
            <a:r>
              <a:rPr lang="en-US" sz="2400"/>
              <a:t>Time management</a:t>
            </a:r>
            <a:endParaRPr lang="en-US" sz="240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indent="-305435"/>
            <a:r>
              <a:rPr lang="en-US" sz="2400"/>
              <a:t>Distance team member</a:t>
            </a:r>
            <a:endParaRPr lang="en-US" sz="240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indent="-305435"/>
            <a:r>
              <a:rPr lang="en-US" sz="2400"/>
              <a:t>Different Gradle Version</a:t>
            </a: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indent="-305435"/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indent="-305435"/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F46F7-AF0A-BF7F-3485-9501BC18E6B4}"/>
              </a:ext>
            </a:extLst>
          </p:cNvPr>
          <p:cNvSpPr txBox="1"/>
          <p:nvPr/>
        </p:nvSpPr>
        <p:spPr>
          <a:xfrm>
            <a:off x="196850" y="177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7303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61A2A-5352-7DE9-B514-598CB8BD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 we learned/What we would do differently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A9069-D9C4-3C8D-643E-00C142166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Headstart on UI creation</a:t>
            </a:r>
          </a:p>
          <a:p>
            <a:r>
              <a:rPr lang="en-US" sz="2800"/>
              <a:t>Creating a separate channel for important resources</a:t>
            </a:r>
          </a:p>
          <a:p>
            <a:r>
              <a:rPr lang="en-US" sz="2800"/>
              <a:t>Better time management</a:t>
            </a:r>
          </a:p>
          <a:p>
            <a:r>
              <a:rPr lang="en-US" sz="2800"/>
              <a:t>Better resource allocation of team members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34332-60EB-7E63-44C7-BA059ED8D334}"/>
              </a:ext>
            </a:extLst>
          </p:cNvPr>
          <p:cNvSpPr txBox="1"/>
          <p:nvPr/>
        </p:nvSpPr>
        <p:spPr>
          <a:xfrm>
            <a:off x="196850" y="177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17792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53F85-2886-1D89-802E-6665B12E9D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APP DEMO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7885DAC-714E-C373-29F5-8F10FAF7C2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(●’◡'●)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B9CC24-7223-375E-8955-6014A402BDA0}"/>
              </a:ext>
            </a:extLst>
          </p:cNvPr>
          <p:cNvSpPr txBox="1"/>
          <p:nvPr/>
        </p:nvSpPr>
        <p:spPr>
          <a:xfrm>
            <a:off x="196850" y="177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28661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DC2389-ACF4-C41C-C624-A3C509D41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6" b="1077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747560-2AE8-455B-D774-09322DA27E90}"/>
              </a:ext>
            </a:extLst>
          </p:cNvPr>
          <p:cNvSpPr txBox="1"/>
          <p:nvPr/>
        </p:nvSpPr>
        <p:spPr>
          <a:xfrm>
            <a:off x="196850" y="177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670893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5</TotalTime>
  <Words>597</Words>
  <Application>Microsoft Office PowerPoint</Application>
  <PresentationFormat>Widescreen</PresentationFormat>
  <Paragraphs>101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Calisto MT</vt:lpstr>
      <vt:lpstr>Courier New</vt:lpstr>
      <vt:lpstr>Wingdings 2</vt:lpstr>
      <vt:lpstr>Slate</vt:lpstr>
      <vt:lpstr>AccidentNow Witness Manager (ANWM)</vt:lpstr>
      <vt:lpstr>Project Scope</vt:lpstr>
      <vt:lpstr>Technologies</vt:lpstr>
      <vt:lpstr>What is ANWM?</vt:lpstr>
      <vt:lpstr>User interface preview</vt:lpstr>
      <vt:lpstr>Encryption </vt:lpstr>
      <vt:lpstr>Database &amp; Storage Architecture</vt:lpstr>
      <vt:lpstr>Artificial Intelligence</vt:lpstr>
      <vt:lpstr>Project Future Improvement</vt:lpstr>
      <vt:lpstr>Challenges</vt:lpstr>
      <vt:lpstr>What we learned/What we would do differently</vt:lpstr>
      <vt:lpstr>APP 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 Tran</dc:creator>
  <cp:lastModifiedBy>The Guy</cp:lastModifiedBy>
  <cp:revision>2</cp:revision>
  <dcterms:created xsi:type="dcterms:W3CDTF">2026-05-31T23:46:32Z</dcterms:created>
  <dcterms:modified xsi:type="dcterms:W3CDTF">2026-06-10T09:16:17Z</dcterms:modified>
</cp:coreProperties>
</file>